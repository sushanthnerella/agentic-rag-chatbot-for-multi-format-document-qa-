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4630400" cy="8229600"/>
  <p:notesSz cx="8229600" cy="14630400"/>
  <p:embeddedFontLst>
    <p:embeddedFont>
      <p:font typeface="Arial Black" panose="020B0A04020102020204" pitchFamily="34" charset="0"/>
      <p:bold r:id="rId12"/>
    </p:embeddedFont>
    <p:embeddedFont>
      <p:font typeface="Barlow Bold" panose="00000800000000000000" pitchFamily="2" charset="0"/>
      <p:bold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Montserrat" panose="00000500000000000000" pitchFamily="2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7483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844589"/>
            <a:ext cx="7627382" cy="124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Arial Black" panose="020B0A04020102020204" pitchFamily="34" charset="0"/>
                <a:ea typeface="Barlow Bold" pitchFamily="34" charset="-122"/>
                <a:cs typeface="Barlow Bold" pitchFamily="34" charset="-120"/>
              </a:rPr>
              <a:t>Agentic RAG Chatbot for Multi-Format Document QA using MCP</a:t>
            </a:r>
            <a:endParaRPr lang="en-US" sz="3900" dirty="0">
              <a:latin typeface="Arial Black" panose="020B0A040201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44709" y="4212312"/>
            <a:ext cx="762738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Coding Round Project Submission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244709" y="4728805"/>
            <a:ext cx="762738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Implementation for AI/ML Systems Role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244709" y="5245298"/>
            <a:ext cx="762738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October 2025</a:t>
            </a:r>
            <a:b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b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45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N.Sushanth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918329"/>
            <a:ext cx="7627382" cy="124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 Statement &amp; Requirements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58309" y="2449711"/>
            <a:ext cx="3718917" cy="2942511"/>
          </a:xfrm>
          <a:prstGeom prst="roundRect">
            <a:avLst>
              <a:gd name="adj" fmla="val 966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55477" y="2646878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Multi-Format Support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55477" y="3072289"/>
            <a:ext cx="3324582" cy="1819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 intelligent RAG chatbot capable of processing and answering queries from uploaded documents across multiple file formats: PDF, DOCX, PPTX, CSV, and TXT files.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666774" y="2449711"/>
            <a:ext cx="3718917" cy="2942511"/>
          </a:xfrm>
          <a:prstGeom prst="roundRect">
            <a:avLst>
              <a:gd name="adj" fmla="val 9664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63941" y="2646878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Agentic Architecture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863941" y="3072289"/>
            <a:ext cx="3324582" cy="2122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a distributed agent system using Model Context Protocol (MCP) for structured communication between specialized components handling document ingestion, retrieval, and response generation.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58309" y="5581769"/>
            <a:ext cx="7627382" cy="1729502"/>
          </a:xfrm>
          <a:prstGeom prst="roundRect">
            <a:avLst>
              <a:gd name="adj" fmla="val 16442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5477" y="5778937"/>
            <a:ext cx="299727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Conversational Intelligence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55477" y="6204347"/>
            <a:ext cx="7233047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 context-aware, conversational responses that maintain coherence across multi-turn conversations while providing source attribution for transparency and verification.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871418"/>
            <a:ext cx="6744295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System Architecture Overview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58309" y="1968817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Frontend Layer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58309" y="2470071"/>
            <a:ext cx="768322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Streamlit-based user interface providing intuitive file upload capabilities and real-time chat interaction. The interface maintains conversation history and displays source attributions for each response.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58309" y="3569375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Backend Services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58309" y="4070628"/>
            <a:ext cx="768322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FastAPI-powered backend orchestrating three specialized agents: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58309" y="4544497"/>
            <a:ext cx="768322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258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IngestionAgent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- Parses documents and generates embeddings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58309" y="4914067"/>
            <a:ext cx="768322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258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RetrievalAgent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- Performs semantic search with reranking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58309" y="5283637"/>
            <a:ext cx="768322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258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LLMResponseAgent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- Generates contextual responses using Gemini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58309" y="5776436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Infrastructure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58309" y="6277689"/>
            <a:ext cx="768322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ChromaDB serves as the persistent vector store, while Google Gemini 2.5 Pro handles both embedding generation and response synthesis. MCP ensures structured, type-safe communication between all components.</a:t>
            </a:r>
            <a:endParaRPr lang="en-US" sz="14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1590" y="1992511"/>
            <a:ext cx="4968002" cy="49680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9B2231-6811-C0E0-9468-BAC321A0D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79" y="501805"/>
            <a:ext cx="14236899" cy="729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515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2810" y="394930"/>
            <a:ext cx="7672983" cy="471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MCP Message Flow &amp; Communication Protocol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10" y="1152287"/>
            <a:ext cx="715923" cy="8591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846" y="1295400"/>
            <a:ext cx="1884283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Document Upload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1431846" y="1616750"/>
            <a:ext cx="12625745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uploads documents through Streamlit UI, triggering MCP message to IngestionAgent for processing and embedding generation.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10" y="2011442"/>
            <a:ext cx="715923" cy="8591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31846" y="2154555"/>
            <a:ext cx="1884283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Vector Storage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431846" y="2475905"/>
            <a:ext cx="12625745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Documents are parsed, chunked, and embedded using Gemini embedding model, then stored persistently in ChromaDB with metadata.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810" y="2870597"/>
            <a:ext cx="715923" cy="85915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31846" y="3013710"/>
            <a:ext cx="1884283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Query Processing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1431846" y="3335060"/>
            <a:ext cx="12625745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CoordinatorAgent receives user question and sends structured MCP message to RetrievalAgent for semantic search and context retrieval.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810" y="3729752"/>
            <a:ext cx="715923" cy="85915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31846" y="3872865"/>
            <a:ext cx="1884283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Response Generation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1431846" y="4194215"/>
            <a:ext cx="12625745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LLMResponseAgent receives context via MCP CONTEXT_RESPONSE message and generates final answer using Gemini with source attribution.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572810" y="4749998"/>
            <a:ext cx="13484781" cy="3084552"/>
          </a:xfrm>
          <a:prstGeom prst="roundRect">
            <a:avLst>
              <a:gd name="adj" fmla="val 6964"/>
            </a:avLst>
          </a:prstGeom>
          <a:solidFill>
            <a:srgbClr val="BEDFF3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923" y="4954429"/>
            <a:ext cx="235506" cy="18835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4542" y="4928830"/>
            <a:ext cx="2735699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Example MCP Message Structure</a:t>
            </a:r>
            <a:endParaRPr lang="en-US" sz="1450" dirty="0"/>
          </a:p>
        </p:txBody>
      </p:sp>
      <p:sp>
        <p:nvSpPr>
          <p:cNvPr id="18" name="Shape 11"/>
          <p:cNvSpPr/>
          <p:nvPr/>
        </p:nvSpPr>
        <p:spPr>
          <a:xfrm>
            <a:off x="1094542" y="5325428"/>
            <a:ext cx="12819936" cy="2276475"/>
          </a:xfrm>
          <a:prstGeom prst="roundRect">
            <a:avLst>
              <a:gd name="adj" fmla="val 9436"/>
            </a:avLst>
          </a:prstGeom>
          <a:solidFill>
            <a:srgbClr val="F2F2F2"/>
          </a:solidFill>
          <a:ln/>
        </p:spPr>
      </p:sp>
      <p:sp>
        <p:nvSpPr>
          <p:cNvPr id="19" name="Shape 12"/>
          <p:cNvSpPr/>
          <p:nvPr/>
        </p:nvSpPr>
        <p:spPr>
          <a:xfrm>
            <a:off x="1087398" y="5325428"/>
            <a:ext cx="12834223" cy="2276475"/>
          </a:xfrm>
          <a:prstGeom prst="roundRect">
            <a:avLst>
              <a:gd name="adj" fmla="val 944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0" name="Text 13"/>
          <p:cNvSpPr/>
          <p:nvPr/>
        </p:nvSpPr>
        <p:spPr>
          <a:xfrm>
            <a:off x="1230511" y="5432822"/>
            <a:ext cx="12547997" cy="2061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 "sender": "RetrievalAgent", "receiver": "LLMResponseAgent",  "type": "CONTEXT_RESPONSE", "payload": { "query": "What KPIs were tracked?", "context": ["Slide 3: revenue growth...", "Doc: Q1 summary..."] }}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422202"/>
            <a:ext cx="9602867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Technology Stack &amp; Implementation Details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58309" y="2424827"/>
            <a:ext cx="13113782" cy="4382453"/>
          </a:xfrm>
          <a:prstGeom prst="roundRect">
            <a:avLst>
              <a:gd name="adj" fmla="val 648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29" y="2432447"/>
            <a:ext cx="13098542" cy="5459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55596" y="2553772"/>
            <a:ext cx="2891671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Layer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233982" y="2553772"/>
            <a:ext cx="944094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Technologies &amp; Tools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65929" y="2978348"/>
            <a:ext cx="13098542" cy="5459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55596" y="3099673"/>
            <a:ext cx="2891671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258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33982" y="3099673"/>
            <a:ext cx="944094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 for rapid UI development with file upload and chat components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65929" y="3524250"/>
            <a:ext cx="13098542" cy="5459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55596" y="3645575"/>
            <a:ext cx="2891671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258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233982" y="3645575"/>
            <a:ext cx="944094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FastAPI for high-performance async API endpoints and request handling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65929" y="4070152"/>
            <a:ext cx="13098542" cy="5459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55596" y="4191476"/>
            <a:ext cx="2891671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258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233982" y="4191476"/>
            <a:ext cx="944094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with LangChain for document processing, Pydantic for type validation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65929" y="4616053"/>
            <a:ext cx="13098542" cy="5459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55596" y="4737378"/>
            <a:ext cx="2891671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258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Vector DB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233982" y="4737378"/>
            <a:ext cx="944094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ChromaDB for persistent vector storage with metadata filtering capabilities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65929" y="5161955"/>
            <a:ext cx="13098542" cy="5459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55596" y="5283279"/>
            <a:ext cx="2891671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258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233982" y="5283279"/>
            <a:ext cx="944094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Gemini 2.5 Pro API for both embeddings and text generation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65929" y="5707856"/>
            <a:ext cx="13098542" cy="5459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55596" y="5829181"/>
            <a:ext cx="2891671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258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Protocol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233982" y="5829181"/>
            <a:ext cx="944094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 MCP implementation using Pydantic schemas for type-safe messaging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3411" y="505078"/>
            <a:ext cx="7330440" cy="623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User Interface &amp; Interaction Flow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58310" y="5743565"/>
            <a:ext cx="3030974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Document Upload Interface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404098" y="6225920"/>
            <a:ext cx="4213265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Intuitive sidebar allowing users to upload multiple documents simultaneously. Progress indicators show processing status and successful ingestion confirmation.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5208508" y="5724642"/>
            <a:ext cx="3073837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Interactive Chat Experience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4971576" y="6036348"/>
            <a:ext cx="4213265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conversation interface displaying AI responses with clear source attributions. Users can ask follow-up questions while maintaining conversation context.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9814824" y="5616534"/>
            <a:ext cx="3194090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Contextual Response Display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9658707" y="5922668"/>
            <a:ext cx="4213384" cy="151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response includes relevant document excerpts, source file names, and confidence indicators, enabling users to verify information accuracy and explore source materials.</a:t>
            </a:r>
            <a:endParaRPr lang="en-US" sz="14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F3E135-2D2F-9487-EC04-10D4F8F42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17" y="1538868"/>
            <a:ext cx="4242707" cy="35877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FE11AB-8AA0-FA75-30DA-6AD82E757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575" y="1425165"/>
            <a:ext cx="4213266" cy="35877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E52FD64-A18B-8B26-A8A5-5047E669AB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9776" y="1338146"/>
            <a:ext cx="4927575" cy="3788447"/>
          </a:xfrm>
          <a:prstGeom prst="roundRect">
            <a:avLst>
              <a:gd name="adj" fmla="val 14901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474" y="510421"/>
            <a:ext cx="9821228" cy="610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Technical Challenges &amp; Engineering Solutions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42474" y="1492210"/>
            <a:ext cx="6479858" cy="3023354"/>
          </a:xfrm>
          <a:prstGeom prst="roundRect">
            <a:avLst>
              <a:gd name="adj" fmla="val 3629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14" y="1492210"/>
            <a:ext cx="91440" cy="30233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9532" y="1700689"/>
            <a:ext cx="3427809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400" b="1" dirty="0">
                <a:latin typeface="Barlow Bold" panose="00000800000000000000" pitchFamily="2" charset="0"/>
              </a:rPr>
              <a:t>Lost in the Middle </a:t>
            </a:r>
            <a:r>
              <a:rPr lang="en-US" sz="1900" b="1" dirty="0">
                <a:latin typeface="Barlow Bold" panose="00000800000000000000" pitchFamily="2" charset="0"/>
              </a:rPr>
              <a:t>Problem</a:t>
            </a:r>
          </a:p>
        </p:txBody>
      </p:sp>
      <p:sp>
        <p:nvSpPr>
          <p:cNvPr id="6" name="Text 3"/>
          <p:cNvSpPr/>
          <p:nvPr/>
        </p:nvSpPr>
        <p:spPr>
          <a:xfrm>
            <a:off x="1019532" y="2117169"/>
            <a:ext cx="5994321" cy="89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Challenge: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The retrieval system worked for general queries but failed on metadata or references, as vector search prioritized body text while ignoring document edges.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019532" y="3119318"/>
            <a:ext cx="5994321" cy="1187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Solution: I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used multi-query expansion to capture diverse chunks and re-ranking to prioritize the ones directly answering the user’s query.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407950" y="1492210"/>
            <a:ext cx="6479977" cy="3023354"/>
          </a:xfrm>
          <a:prstGeom prst="roundRect">
            <a:avLst>
              <a:gd name="adj" fmla="val 3629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090" y="1492210"/>
            <a:ext cx="91440" cy="30233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85008" y="1700689"/>
            <a:ext cx="3299936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400" b="1" dirty="0"/>
              <a:t>Conversational Context</a:t>
            </a:r>
          </a:p>
        </p:txBody>
      </p:sp>
      <p:sp>
        <p:nvSpPr>
          <p:cNvPr id="11" name="Text 7"/>
          <p:cNvSpPr/>
          <p:nvPr/>
        </p:nvSpPr>
        <p:spPr>
          <a:xfrm>
            <a:off x="7685008" y="2117169"/>
            <a:ext cx="5994440" cy="89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Challenge: The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chatbot lacked memory, so it could not handle follow-up questions and lost the context of previous conversations.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7685008" y="3119318"/>
            <a:ext cx="5994440" cy="1187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Solution: I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added a condense question step that rewrites follow-ups into complete standalone queries using the chat history, ensuring accurate retrieval.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742474" y="4701183"/>
            <a:ext cx="6479858" cy="3023354"/>
          </a:xfrm>
          <a:prstGeom prst="roundRect">
            <a:avLst>
              <a:gd name="adj" fmla="val 3629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14" y="4701183"/>
            <a:ext cx="91440" cy="302335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19532" y="4909661"/>
            <a:ext cx="3460790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400" b="1" dirty="0"/>
              <a:t>Architecture &amp; API Communication</a:t>
            </a:r>
          </a:p>
        </p:txBody>
      </p:sp>
      <p:sp>
        <p:nvSpPr>
          <p:cNvPr id="16" name="Text 11"/>
          <p:cNvSpPr/>
          <p:nvPr/>
        </p:nvSpPr>
        <p:spPr>
          <a:xfrm>
            <a:off x="1019532" y="5326142"/>
            <a:ext cx="5994321" cy="89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Challenge: 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Separating frontend (</a:t>
            </a:r>
            <a:r>
              <a:rPr lang="en-US" sz="145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 and backend (</a:t>
            </a:r>
            <a:r>
              <a:rPr lang="en-US" sz="145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FastAPI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 introduced state and communication issues, like session mismatch and connection failures.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019532" y="6328291"/>
            <a:ext cx="5994321" cy="1187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Solution: I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used </a:t>
            </a:r>
            <a:r>
              <a:rPr lang="en-US" sz="145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st.session_state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maintain session IDs and wrapped all API calls in error handling for reliable communication.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7407950" y="4701183"/>
            <a:ext cx="6479977" cy="3023354"/>
          </a:xfrm>
          <a:prstGeom prst="roundRect">
            <a:avLst>
              <a:gd name="adj" fmla="val 3629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090" y="4701183"/>
            <a:ext cx="91440" cy="302335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685008" y="4909661"/>
            <a:ext cx="3580448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900" b="1" dirty="0"/>
              <a:t>Dependency Conflicts</a:t>
            </a:r>
          </a:p>
        </p:txBody>
      </p:sp>
      <p:sp>
        <p:nvSpPr>
          <p:cNvPr id="21" name="Text 15"/>
          <p:cNvSpPr/>
          <p:nvPr/>
        </p:nvSpPr>
        <p:spPr>
          <a:xfrm>
            <a:off x="7685008" y="5326142"/>
            <a:ext cx="5994440" cy="89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Challenge: 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Frequent version mismatches between libraries caused Import Errors and broke connections to Gemini models.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685008" y="6328291"/>
            <a:ext cx="5994440" cy="89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Solution: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I enforced strict dependency control with requirements.txt and applied targeted upgrades alongside test scripts to isolate issues.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9832" y="225980"/>
            <a:ext cx="7269837" cy="460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Future Enhancements &amp; Project Deliverables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59832" y="1195148"/>
            <a:ext cx="3454607" cy="535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Planned Improvements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13888" y="1955240"/>
            <a:ext cx="6584632" cy="447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175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Open-Source LLM Integration:</a:t>
            </a: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Replace Gemini with Mistral or Llama 3 for cost optimization and enhanced privacy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1264" y="2599636"/>
            <a:ext cx="6584632" cy="447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175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Management System:</a:t>
            </a: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Implement authentication, user sessions, and document access controls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1264" y="3532716"/>
            <a:ext cx="6584632" cy="447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175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Optimization:</a:t>
            </a: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Add Redis caching layer for faster retrieval and response times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9832" y="4169259"/>
            <a:ext cx="6584632" cy="447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1750"/>
              </a:lnSpc>
              <a:buSzPct val="100000"/>
              <a:buChar char="•"/>
            </a:pPr>
            <a:r>
              <a:rPr lang="en-US" sz="16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Production Deployment:</a:t>
            </a: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Deploy on Hugging Face Spaces, Render, or AWS with auto-scaling capabilities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1264" y="5054798"/>
            <a:ext cx="1841897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Additional Features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9832" y="5442346"/>
            <a:ext cx="6584632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just">
              <a:lnSpc>
                <a:spcPts val="175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collaboration and document sharing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9832" y="5720453"/>
            <a:ext cx="6584632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just">
              <a:lnSpc>
                <a:spcPts val="175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Advanced analytics and usage metrics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9832" y="5989832"/>
            <a:ext cx="6584632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just">
              <a:lnSpc>
                <a:spcPts val="175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 embedding fine-tuning for domain-specific </a:t>
            </a:r>
            <a:b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knowledge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46038" y="1124069"/>
            <a:ext cx="6584632" cy="1931670"/>
          </a:xfrm>
          <a:prstGeom prst="roundRect">
            <a:avLst>
              <a:gd name="adj" fmla="val 10870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7641074" y="1360170"/>
            <a:ext cx="1841897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Complete Deliverables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641074" y="1730216"/>
            <a:ext cx="6289596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Comprehensive GitHub repository with full source code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41074" y="2003108"/>
            <a:ext cx="6289596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Detailed README with setup and deployment instructions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41074" y="2275999"/>
            <a:ext cx="6289596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presentation (this document)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41074" y="2548890"/>
            <a:ext cx="6289596" cy="447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Optional 5-minute demonstration video showcasing architecture, code walkthrough, and live application demo</a:t>
            </a:r>
            <a:endParaRPr lang="en-US" sz="11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038" y="3343631"/>
            <a:ext cx="6584632" cy="450520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59832" y="8121729"/>
            <a:ext cx="13510736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demonstrates advanced understanding of agentic architectures, RAG implementation, and production-ready system design patterns essential for AI/ML systems engineering roles.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871</Words>
  <Application>Microsoft Office PowerPoint</Application>
  <PresentationFormat>Custom</PresentationFormat>
  <Paragraphs>92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Consolas</vt:lpstr>
      <vt:lpstr>Montserrat</vt:lpstr>
      <vt:lpstr>Barlow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Sandeep Nerella</dc:creator>
  <cp:lastModifiedBy>Sandeep Nerella</cp:lastModifiedBy>
  <cp:revision>3</cp:revision>
  <dcterms:created xsi:type="dcterms:W3CDTF">2025-10-01T17:53:34Z</dcterms:created>
  <dcterms:modified xsi:type="dcterms:W3CDTF">2025-10-02T02:44:54Z</dcterms:modified>
</cp:coreProperties>
</file>